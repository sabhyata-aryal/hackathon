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3" r:id="rId7"/>
    <p:sldId id="267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296AE-19AD-42AF-B609-25C3B129C9E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D681F-9C49-485B-9412-5632D33B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7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3966-F3FB-B014-0933-060821BA7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8C150-3B73-BE5D-D4D5-EFF9DDF08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8FF74-0D7C-DA1A-6D88-9C5255D5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3A148-DF9C-4789-8893-A9B59EF92C8E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67FFF-38E1-8042-CD43-D1573ABE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51077-7395-4094-2BB0-E80F33C5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8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5F2F-0F53-4FEE-B04C-BAE1FDF9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6571-4CC3-082D-4E3A-8A035E75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9C2FD-B1C0-89F5-17AC-9CAC58AD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2B2-9119-4A19-A20F-75597ADFBFF9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87FC1-06CA-E111-DE05-33D98254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BF28-2B3D-5455-1367-AB6D4D0C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4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CD492-7040-D9DC-C324-E1CA0A9F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5FDF3-46CB-774E-7C6D-DE4C626A3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B05B-1932-CA86-1587-0CB17004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9F186-DD76-49B4-A018-0331BDE6BD7E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50AE0-4831-DE98-BD15-358B770E4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EB011-7CB9-51F6-7405-2E0BA256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8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5999-63BB-680F-9BCC-154C4901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417A-E0C2-954D-E6C1-60371560C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C3C50-AD2A-7C4B-25E2-9221A6389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5682D-A95F-A7F2-0DDB-1355E9085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21DE-A5DD-4AF4-9915-572C90B840B1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99355-1F24-654F-33C7-DC06232A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7D2E9-7C36-B93F-E264-6F1C63DB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73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CEB4-A37D-A924-5558-861F745B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9B37C-CDA9-32B0-1715-C3C49D321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C8DE1-53F5-50F0-1877-233CF1E2A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F9769-C69E-C8E1-6203-A8F35B5C5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7322A-A88C-2142-0C2D-008746677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52356-9B98-BC24-2380-C6E7B760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22EFC-454C-47BC-8453-9715E274385B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10CC2-DCC1-D483-967E-AA01C3BD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5AB8C-BD9C-D86F-F59E-32B135A3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D899-F72C-D83A-E59D-07DCFB4D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5C69D-BD21-98A7-5526-29A0D991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8E67-1450-4DB9-8E67-588EA537EC2B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2CB13D-2673-F3A6-BAAC-933CA10F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DDD28-AB3C-5CBD-63F6-5A99EE3C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8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127CA-BA32-1839-5D96-729553A08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4C37-FD15-4F10-926A-514303928C58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99924-9105-BFE9-76BC-4C0C3150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E1031-F5C3-0D47-D65E-CC9170F6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7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7F87-0BCA-604E-7248-0A170621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2CA4F-9B71-48A9-B9B1-C81652D6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57FC9-457E-C3C2-1D7E-BF85CDFFA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1F27D-71D6-4E9C-2CBF-1D337F61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66A1-2E45-4497-AE82-3E87B6D8D113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3A9BC-5505-3F09-D831-EE74C434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26F36-391C-7BFF-D44E-6E48BCF3D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17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EE91-CB94-AFAB-E473-3DE2D185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69323-A845-9993-7907-7C1026333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0A47E-CABF-8D82-E787-752432A04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7FA29-32B2-49F7-C737-0765F8471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474A-23A4-4981-B31F-E6B7E5D6F68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34D71-A5C0-1B8A-B082-5F227E87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7AC40-319F-FA6F-1F43-0BF6F303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2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731C-4CCD-073F-E416-50847038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506DD-85D2-F88E-D148-878422233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79F23-CC52-84C0-AD48-B945A324D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93C7-8AE9-4815-A7F2-E64A4F401B3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CCCE1-A445-97F1-E207-D0D511B8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FC7B4-9252-2DC8-A03A-080B06B4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5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9C42E-B067-3069-9B58-B99606B62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8ADB1-2715-7BB9-8D7B-FDBD2EDCD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1026D-E1B6-F4B8-1CEB-2025C917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8A2B-FE7E-4AD8-9F1C-4EA3522A1C3B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3FA81-0A5B-70C1-6E67-F8EE7DB3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E4C2F-A533-0D01-63D1-25522CDC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0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45369-9DFE-9D65-89E3-0CC4DC80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D950D-6386-4251-261E-D57973ADA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371B-901D-8B22-7E44-09CB587E1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46EC8-D5EA-4452-B986-FF809900DF09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33C57-1FFC-9C14-18F7-45D96F182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CB7CA-E647-4C08-05AE-0693C99EE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97975-00AF-4C00-B30F-95B34BC35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4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C2B5-C81F-E67B-80B7-D575F611A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2491" y="734436"/>
            <a:ext cx="9144000" cy="2387600"/>
          </a:xfrm>
        </p:spPr>
        <p:txBody>
          <a:bodyPr/>
          <a:lstStyle/>
          <a:p>
            <a:r>
              <a:rPr lang="en-US" dirty="0"/>
              <a:t>Plagiarism Checker for NCCS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454B6-0E97-7B8B-E914-1D0260EF0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2583" y="4370965"/>
            <a:ext cx="9144000" cy="1655762"/>
          </a:xfrm>
        </p:spPr>
        <p:txBody>
          <a:bodyPr/>
          <a:lstStyle/>
          <a:p>
            <a:r>
              <a:rPr lang="en-US" dirty="0"/>
              <a:t>By: Sabhyata Aryal</a:t>
            </a:r>
          </a:p>
          <a:p>
            <a:r>
              <a:rPr lang="en-US" dirty="0"/>
              <a:t>NCCSCSIT 519</a:t>
            </a:r>
          </a:p>
        </p:txBody>
      </p:sp>
    </p:spTree>
    <p:extLst>
      <p:ext uri="{BB962C8B-B14F-4D97-AF65-F5344CB8AC3E}">
        <p14:creationId xmlns:p14="http://schemas.microsoft.com/office/powerpoint/2010/main" val="128585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76BD-5287-A28D-0B15-5A91790A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BEA9-1EC0-A4CE-FB87-8853FBAA7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repeated submission of similar projects across academic batches, the risk of plagiarism has significantly increased. </a:t>
            </a:r>
          </a:p>
          <a:p>
            <a:r>
              <a:rPr lang="en-US" dirty="0"/>
              <a:t>Manual plagiarism checking is time-consuming, unreliable, and impractical.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project proposes an automated plagiarism checker for NCCS to support teachers in efficiently verifying the originality of student project reports.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964FD-340C-57F9-7266-B77F53E7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0522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9342-BED2-10DD-31D5-4EA74EBC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F93AA-5229-2ED3-2F8A-23A7085E2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Currently, NCCS does not have an automated system to verify the originality of project reports.</a:t>
            </a:r>
          </a:p>
          <a:p>
            <a:r>
              <a:rPr lang="en-US" dirty="0"/>
              <a:t>Teachers rely on manual inspection, which is inefficient, time-consuming, and error-prone.</a:t>
            </a:r>
          </a:p>
          <a:p>
            <a:r>
              <a:rPr lang="en-US" dirty="0"/>
              <a:t>The absence of a centralized repository of previously submitted project reports increases the risk of students submitting copied content.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64B9C-65AD-40DC-9E62-7641B1016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5549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EC3D-3EA8-FDCC-DBBB-CBCC7766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60CD-9B3C-9EC0-F11F-392F611B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an automated plagiarism detection system that checks textual similarity between newly submitted project reports and previously submitted NCCS project reports.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D3774-0842-1FA6-E3F9-7AEF8892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3249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30C8-E389-9B9E-B507-1111F92D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65DEA-2741-554C-6B3C-68604068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25453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N-Gram Based Similarity Detection</a:t>
            </a:r>
          </a:p>
          <a:p>
            <a:pPr marL="0" indent="0">
              <a:buNone/>
            </a:pPr>
            <a:r>
              <a:rPr lang="en-US" b="1" u="sng" dirty="0"/>
              <a:t>What it is: </a:t>
            </a:r>
            <a:r>
              <a:rPr lang="en-US" altLang="en-US" dirty="0">
                <a:cs typeface="Arial" panose="020B0604020202020204" pitchFamily="34" charset="0"/>
              </a:rPr>
              <a:t>measures how alike two text strings are by breaking them into overlapping sequences of 𝑛 consecutive characters or words (n-grams or shingles)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862ED9C-6BE9-DE78-1113-A3416D4F3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E878F3-26AE-520E-BCC0-AF7FAF6F4759}"/>
              </a:ext>
            </a:extLst>
          </p:cNvPr>
          <p:cNvSpPr txBox="1">
            <a:spLocks/>
          </p:cNvSpPr>
          <p:nvPr/>
        </p:nvSpPr>
        <p:spPr>
          <a:xfrm>
            <a:off x="838200" y="3730624"/>
            <a:ext cx="10515600" cy="225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b="1" dirty="0">
                <a:cs typeface="Arial" panose="020B0604020202020204" pitchFamily="34" charset="0"/>
              </a:rPr>
              <a:t>I am the king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cs typeface="Arial" panose="020B0604020202020204" pitchFamily="34" charset="0"/>
              </a:rPr>
              <a:t>1-gram(unigram): (I) (am) (the) (king)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cs typeface="Arial" panose="020B0604020202020204" pitchFamily="34" charset="0"/>
              </a:rPr>
              <a:t>2-gram(bigram): (I am) (am the) (the king)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cs typeface="Arial" panose="020B0604020202020204" pitchFamily="34" charset="0"/>
              </a:rPr>
              <a:t>3-gram(trigram): (I am the) (am the king)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0D01-6877-0C19-8C10-A37724DF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9796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EDB1-8AEF-CC10-5A4F-7C517513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91746"/>
            <a:ext cx="8276770" cy="500784"/>
          </a:xfrm>
        </p:spPr>
        <p:txBody>
          <a:bodyPr>
            <a:noAutofit/>
          </a:bodyPr>
          <a:lstStyle/>
          <a:p>
            <a:r>
              <a:rPr lang="en-US" sz="4000" b="1" dirty="0"/>
              <a:t>Conceptual Background of n-gram</a:t>
            </a:r>
            <a:endParaRPr lang="en-US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845BE-44DC-D5C9-9414-AE63503A5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57" y="1507176"/>
            <a:ext cx="10668000" cy="4909272"/>
          </a:xfrm>
        </p:spPr>
        <p:txBody>
          <a:bodyPr/>
          <a:lstStyle/>
          <a:p>
            <a:r>
              <a:rPr lang="en-US" dirty="0"/>
              <a:t>Unigram Probability: P(w) = count(w)/N</a:t>
            </a:r>
          </a:p>
          <a:p>
            <a:r>
              <a:rPr lang="en-US" dirty="0"/>
              <a:t>Bayes Rule:  P(A|B) = P(A∩B)/P(B)</a:t>
            </a:r>
          </a:p>
          <a:p>
            <a:r>
              <a:rPr lang="en-US" dirty="0"/>
              <a:t>Bigram Probability: P(w</a:t>
            </a:r>
            <a:r>
              <a:rPr lang="en-US" baseline="-25000" dirty="0"/>
              <a:t>i</a:t>
            </a:r>
            <a:r>
              <a:rPr lang="en-US" dirty="0"/>
              <a:t>|w</a:t>
            </a:r>
            <a:r>
              <a:rPr lang="en-US" baseline="-25000" dirty="0"/>
              <a:t>i-1</a:t>
            </a:r>
            <a:r>
              <a:rPr lang="en-US" dirty="0"/>
              <a:t>) = count(w</a:t>
            </a:r>
            <a:r>
              <a:rPr lang="en-US" baseline="-25000" dirty="0"/>
              <a:t>i-1</a:t>
            </a:r>
            <a:r>
              <a:rPr lang="en-US" dirty="0"/>
              <a:t>,w</a:t>
            </a:r>
            <a:r>
              <a:rPr lang="en-US" baseline="-25000" dirty="0"/>
              <a:t>i</a:t>
            </a:r>
            <a:r>
              <a:rPr lang="en-US" dirty="0"/>
              <a:t>)/count(w</a:t>
            </a:r>
            <a:r>
              <a:rPr lang="en-US" baseline="-25000" dirty="0"/>
              <a:t>i-1</a:t>
            </a:r>
            <a:r>
              <a:rPr lang="en-US" dirty="0"/>
              <a:t>)</a:t>
            </a:r>
            <a:endParaRPr lang="en-US" baseline="-25000" dirty="0"/>
          </a:p>
          <a:p>
            <a:r>
              <a:rPr lang="en-US" dirty="0"/>
              <a:t>Trigram Probability: P(w</a:t>
            </a:r>
            <a:r>
              <a:rPr lang="en-US" baseline="-25000" dirty="0"/>
              <a:t>i</a:t>
            </a:r>
            <a:r>
              <a:rPr lang="en-US" dirty="0"/>
              <a:t>|w</a:t>
            </a:r>
            <a:r>
              <a:rPr lang="en-US" baseline="-25000" dirty="0"/>
              <a:t>i-2</a:t>
            </a:r>
            <a:r>
              <a:rPr lang="en-US" dirty="0"/>
              <a:t>,w</a:t>
            </a:r>
            <a:r>
              <a:rPr lang="en-US" baseline="-25000" dirty="0"/>
              <a:t>i-1</a:t>
            </a:r>
            <a:r>
              <a:rPr lang="en-US" dirty="0"/>
              <a:t>) = count(w</a:t>
            </a:r>
            <a:r>
              <a:rPr lang="en-US" baseline="-25000" dirty="0"/>
              <a:t>i-2</a:t>
            </a:r>
            <a:r>
              <a:rPr lang="en-US" dirty="0"/>
              <a:t>,w</a:t>
            </a:r>
            <a:r>
              <a:rPr lang="en-US" baseline="-25000" dirty="0"/>
              <a:t>i-1</a:t>
            </a:r>
            <a:r>
              <a:rPr lang="en-US" dirty="0"/>
              <a:t>,w</a:t>
            </a:r>
            <a:r>
              <a:rPr lang="en-US" baseline="-25000" dirty="0"/>
              <a:t>i</a:t>
            </a:r>
            <a:r>
              <a:rPr lang="en-US" dirty="0"/>
              <a:t>)/count(w</a:t>
            </a:r>
            <a:r>
              <a:rPr lang="en-US" baseline="-25000" dirty="0"/>
              <a:t>i-2</a:t>
            </a:r>
            <a:r>
              <a:rPr lang="en-US" dirty="0"/>
              <a:t>,w</a:t>
            </a:r>
            <a:r>
              <a:rPr lang="en-US" baseline="-25000" dirty="0"/>
              <a:t>i-1</a:t>
            </a:r>
            <a:r>
              <a:rPr lang="en-US" dirty="0"/>
              <a:t>)</a:t>
            </a: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0814422A-9089-3A01-6EF4-1A163A1F3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A54D1-1C8D-444A-6CDC-82F10224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6466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EF898-B387-E8AF-B729-8EB472C7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378036" cy="7709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b="1" dirty="0">
                <a:latin typeface="+mn-lt"/>
              </a:rPr>
              <a:t>Jaccard Similarity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DAD35-F964-9C15-C3C0-B5A36B01E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18" y="1136074"/>
            <a:ext cx="10612582" cy="5040889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What it is: </a:t>
            </a:r>
          </a:p>
          <a:p>
            <a:pPr marL="0" indent="0">
              <a:buNone/>
            </a:pPr>
            <a:r>
              <a:rPr lang="en-US" dirty="0"/>
              <a:t>A simple but powerful way to measure how much two sets have in common.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u="sng" dirty="0"/>
              <a:t>Formula:</a:t>
            </a:r>
          </a:p>
          <a:p>
            <a:pPr marL="0" indent="0">
              <a:buNone/>
            </a:pPr>
            <a:r>
              <a:rPr lang="en-US" dirty="0"/>
              <a:t>Jaccard Similarity = (What they share) / (Everything they have together)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A1DF7-ACBC-0FF5-8768-77349B9A2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8" y="3949653"/>
            <a:ext cx="4648200" cy="246915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DBAA5-86A8-CD95-85ED-994ABA4B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0164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9CF2-BB0D-9554-52C0-6269F821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Flowchart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1C8ADD-D403-D09B-0FE8-5A1CCA6B8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486" y="1443816"/>
            <a:ext cx="4025446" cy="5049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8D422-A75D-04D9-E72D-147E25D6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6995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3EBB-3C14-0217-3EDC-E6F2514F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EB3B-22B7-B995-8018-61D685518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781" y="15069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Completed(50%)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1DAAA1-494E-FD33-F180-327FFCDD4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037" y="1971709"/>
            <a:ext cx="744681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Django project setup and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Report upload system (Past / New submission)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Repository storage using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Basic text extraction from uploaded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Jaccard Similarity algorithm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Similarity result display (basic view)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Admin panel integration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EA5C9-1DB9-B8CD-728D-12ED6262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2092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2629-9BB0-F61C-4A0C-D49A45D2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4ADD-418D-0195-DB69-93A9489D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D529-6120-CB85-A3D1-C1090F839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781" y="15069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Remaining(50%)</a:t>
            </a: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CD896B-9047-9DFC-63E9-FE0134114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28" y="1937074"/>
            <a:ext cx="1039374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Algorithm improvement (text preprocessing, accuracy enhancement)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UI/UX enhancement and professional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Plagiarism level classification (Low/Medium/High)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Report generation (optional PDF output)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Complete technical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and validation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20708-7DBF-D722-585C-7830FF8C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6771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449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Plagiarism Checker for NCCS</vt:lpstr>
      <vt:lpstr>Introduction</vt:lpstr>
      <vt:lpstr>Problem Statement</vt:lpstr>
      <vt:lpstr>Objective</vt:lpstr>
      <vt:lpstr>Algorithms</vt:lpstr>
      <vt:lpstr>Conceptual Background of n-gram</vt:lpstr>
      <vt:lpstr>Jaccard Similarity</vt:lpstr>
      <vt:lpstr>System Flowchart</vt:lpstr>
      <vt:lpstr>Project Progress</vt:lpstr>
      <vt:lpstr>Project 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Sabhyata Aryal</dc:creator>
  <cp:lastModifiedBy>Sabhyata Aryal</cp:lastModifiedBy>
  <cp:revision>14</cp:revision>
  <dcterms:created xsi:type="dcterms:W3CDTF">2026-02-05T17:42:47Z</dcterms:created>
  <dcterms:modified xsi:type="dcterms:W3CDTF">2026-02-26T08:03:46Z</dcterms:modified>
</cp:coreProperties>
</file>